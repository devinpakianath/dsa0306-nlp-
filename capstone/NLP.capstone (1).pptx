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4" r:id="rId6"/>
    <p:sldId id="261" r:id="rId7"/>
    <p:sldId id="270" r:id="rId8"/>
    <p:sldId id="262" r:id="rId9"/>
    <p:sldId id="271" r:id="rId10"/>
    <p:sldId id="272" r:id="rId11"/>
    <p:sldId id="265" r:id="rId12"/>
    <p:sldId id="268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CC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578DFB-0896-4E7D-9C61-3B5A0BEB9913}" v="26" dt="2026-09-03T08:15:24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ihrtam123@outlook.com" userId="8bfba6f25caaa63e" providerId="LiveId" clId="{AF88C727-7CBD-4589-9C29-2022FAF29683}"/>
    <pc:docChg chg="undo custSel addSld delSld modSld">
      <pc:chgData name="abihrtam123@outlook.com" userId="8bfba6f25caaa63e" providerId="LiveId" clId="{AF88C727-7CBD-4589-9C29-2022FAF29683}" dt="2026-09-03T08:16:22.621" v="413" actId="12"/>
      <pc:docMkLst>
        <pc:docMk/>
      </pc:docMkLst>
      <pc:sldChg chg="modSp mod">
        <pc:chgData name="abihrtam123@outlook.com" userId="8bfba6f25caaa63e" providerId="LiveId" clId="{AF88C727-7CBD-4589-9C29-2022FAF29683}" dt="2026-09-03T08:09:10.334" v="395"/>
        <pc:sldMkLst>
          <pc:docMk/>
          <pc:sldMk cId="1402305257" sldId="257"/>
        </pc:sldMkLst>
        <pc:spChg chg="mod">
          <ac:chgData name="abihrtam123@outlook.com" userId="8bfba6f25caaa63e" providerId="LiveId" clId="{AF88C727-7CBD-4589-9C29-2022FAF29683}" dt="2026-08-28T03:46:20.144" v="42" actId="20577"/>
          <ac:spMkLst>
            <pc:docMk/>
            <pc:sldMk cId="1402305257" sldId="257"/>
            <ac:spMk id="2" creationId="{12D83E37-12E2-CA89-EB34-BDC0B5B78992}"/>
          </ac:spMkLst>
        </pc:spChg>
        <pc:spChg chg="mod">
          <ac:chgData name="abihrtam123@outlook.com" userId="8bfba6f25caaa63e" providerId="LiveId" clId="{AF88C727-7CBD-4589-9C29-2022FAF29683}" dt="2026-09-03T08:09:10.334" v="395"/>
          <ac:spMkLst>
            <pc:docMk/>
            <pc:sldMk cId="1402305257" sldId="257"/>
            <ac:spMk id="3" creationId="{DAB33056-A43B-5048-2D0B-66C29A6B4355}"/>
          </ac:spMkLst>
        </pc:spChg>
      </pc:sldChg>
      <pc:sldChg chg="addSp delSp modSp mod">
        <pc:chgData name="abihrtam123@outlook.com" userId="8bfba6f25caaa63e" providerId="LiveId" clId="{AF88C727-7CBD-4589-9C29-2022FAF29683}" dt="2026-09-01T08:44:18.440" v="321" actId="1076"/>
        <pc:sldMkLst>
          <pc:docMk/>
          <pc:sldMk cId="1828587075" sldId="261"/>
        </pc:sldMkLst>
        <pc:spChg chg="add del mod">
          <ac:chgData name="abihrtam123@outlook.com" userId="8bfba6f25caaa63e" providerId="LiveId" clId="{AF88C727-7CBD-4589-9C29-2022FAF29683}" dt="2026-09-01T08:44:18.440" v="321" actId="1076"/>
          <ac:spMkLst>
            <pc:docMk/>
            <pc:sldMk cId="1828587075" sldId="261"/>
            <ac:spMk id="3" creationId="{A7EC146C-A91A-EC3C-7A19-449E795F97AD}"/>
          </ac:spMkLst>
        </pc:spChg>
        <pc:spChg chg="mod">
          <ac:chgData name="abihrtam123@outlook.com" userId="8bfba6f25caaa63e" providerId="LiveId" clId="{AF88C727-7CBD-4589-9C29-2022FAF29683}" dt="2026-09-01T08:43:57.783" v="314" actId="1076"/>
          <ac:spMkLst>
            <pc:docMk/>
            <pc:sldMk cId="1828587075" sldId="261"/>
            <ac:spMk id="8" creationId="{59FFFBB4-C863-89AA-ECE7-188F764A8667}"/>
          </ac:spMkLst>
        </pc:spChg>
      </pc:sldChg>
      <pc:sldChg chg="addSp modSp mod">
        <pc:chgData name="abihrtam123@outlook.com" userId="8bfba6f25caaa63e" providerId="LiveId" clId="{AF88C727-7CBD-4589-9C29-2022FAF29683}" dt="2026-09-01T08:47:07.622" v="341" actId="1076"/>
        <pc:sldMkLst>
          <pc:docMk/>
          <pc:sldMk cId="1095062257" sldId="262"/>
        </pc:sldMkLst>
        <pc:spChg chg="add mod">
          <ac:chgData name="abihrtam123@outlook.com" userId="8bfba6f25caaa63e" providerId="LiveId" clId="{AF88C727-7CBD-4589-9C29-2022FAF29683}" dt="2026-09-01T08:47:07.622" v="341" actId="1076"/>
          <ac:spMkLst>
            <pc:docMk/>
            <pc:sldMk cId="1095062257" sldId="262"/>
            <ac:spMk id="3" creationId="{3AABDCD0-442C-97E3-D8DF-FB41DDF37F51}"/>
          </ac:spMkLst>
        </pc:spChg>
        <pc:spChg chg="mod">
          <ac:chgData name="abihrtam123@outlook.com" userId="8bfba6f25caaa63e" providerId="LiveId" clId="{AF88C727-7CBD-4589-9C29-2022FAF29683}" dt="2026-09-01T08:46:35.489" v="334" actId="12"/>
          <ac:spMkLst>
            <pc:docMk/>
            <pc:sldMk cId="1095062257" sldId="262"/>
            <ac:spMk id="8" creationId="{35D42C2E-DAFA-16A2-D299-DBE6F95736E4}"/>
          </ac:spMkLst>
        </pc:spChg>
      </pc:sldChg>
      <pc:sldChg chg="addSp delSp modSp mod">
        <pc:chgData name="abihrtam123@outlook.com" userId="8bfba6f25caaa63e" providerId="LiveId" clId="{AF88C727-7CBD-4589-9C29-2022FAF29683}" dt="2026-08-30T11:53:38.138" v="266" actId="478"/>
        <pc:sldMkLst>
          <pc:docMk/>
          <pc:sldMk cId="476578722" sldId="264"/>
        </pc:sldMkLst>
        <pc:picChg chg="mod">
          <ac:chgData name="abihrtam123@outlook.com" userId="8bfba6f25caaa63e" providerId="LiveId" clId="{AF88C727-7CBD-4589-9C29-2022FAF29683}" dt="2026-08-29T08:37:01.593" v="152" actId="1076"/>
          <ac:picMkLst>
            <pc:docMk/>
            <pc:sldMk cId="476578722" sldId="264"/>
            <ac:picMk id="7" creationId="{725F105A-8B08-404F-F677-E7EBD8656D89}"/>
          </ac:picMkLst>
        </pc:picChg>
      </pc:sldChg>
      <pc:sldChg chg="modSp add mod">
        <pc:chgData name="abihrtam123@outlook.com" userId="8bfba6f25caaa63e" providerId="LiveId" clId="{AF88C727-7CBD-4589-9C29-2022FAF29683}" dt="2026-09-01T08:45:27.994" v="328" actId="20577"/>
        <pc:sldMkLst>
          <pc:docMk/>
          <pc:sldMk cId="3454085013" sldId="270"/>
        </pc:sldMkLst>
        <pc:spChg chg="mod">
          <ac:chgData name="abihrtam123@outlook.com" userId="8bfba6f25caaa63e" providerId="LiveId" clId="{AF88C727-7CBD-4589-9C29-2022FAF29683}" dt="2026-09-01T08:45:27.994" v="328" actId="20577"/>
          <ac:spMkLst>
            <pc:docMk/>
            <pc:sldMk cId="3454085013" sldId="270"/>
            <ac:spMk id="8" creationId="{843C16E3-4912-D379-F3CC-F4B1EC234E1A}"/>
          </ac:spMkLst>
        </pc:spChg>
      </pc:sldChg>
      <pc:sldChg chg="modSp add mod">
        <pc:chgData name="abihrtam123@outlook.com" userId="8bfba6f25caaa63e" providerId="LiveId" clId="{AF88C727-7CBD-4589-9C29-2022FAF29683}" dt="2026-09-01T08:48:54.128" v="387" actId="122"/>
        <pc:sldMkLst>
          <pc:docMk/>
          <pc:sldMk cId="2702332331" sldId="271"/>
        </pc:sldMkLst>
        <pc:spChg chg="mod">
          <ac:chgData name="abihrtam123@outlook.com" userId="8bfba6f25caaa63e" providerId="LiveId" clId="{AF88C727-7CBD-4589-9C29-2022FAF29683}" dt="2026-09-01T08:48:54.128" v="387" actId="122"/>
          <ac:spMkLst>
            <pc:docMk/>
            <pc:sldMk cId="2702332331" sldId="271"/>
            <ac:spMk id="8" creationId="{800515FA-AC29-1EE3-934E-92EFAC1FFD57}"/>
          </ac:spMkLst>
        </pc:spChg>
      </pc:sldChg>
      <pc:sldChg chg="delSp modSp add mod">
        <pc:chgData name="abihrtam123@outlook.com" userId="8bfba6f25caaa63e" providerId="LiveId" clId="{AF88C727-7CBD-4589-9C29-2022FAF29683}" dt="2026-09-03T08:16:22.621" v="413" actId="12"/>
        <pc:sldMkLst>
          <pc:docMk/>
          <pc:sldMk cId="4023614717" sldId="272"/>
        </pc:sldMkLst>
        <pc:spChg chg="mod">
          <ac:chgData name="abihrtam123@outlook.com" userId="8bfba6f25caaa63e" providerId="LiveId" clId="{AF88C727-7CBD-4589-9C29-2022FAF29683}" dt="2026-09-03T08:10:12.600" v="402" actId="403"/>
          <ac:spMkLst>
            <pc:docMk/>
            <pc:sldMk cId="4023614717" sldId="272"/>
            <ac:spMk id="2" creationId="{90EC2B8D-795D-3FE8-1787-71E2E6DD2C78}"/>
          </ac:spMkLst>
        </pc:spChg>
        <pc:spChg chg="del">
          <ac:chgData name="abihrtam123@outlook.com" userId="8bfba6f25caaa63e" providerId="LiveId" clId="{AF88C727-7CBD-4589-9C29-2022FAF29683}" dt="2026-09-03T08:15:14.730" v="407" actId="478"/>
          <ac:spMkLst>
            <pc:docMk/>
            <pc:sldMk cId="4023614717" sldId="272"/>
            <ac:spMk id="3" creationId="{47C3BED2-F2AC-7CA0-9083-97FC23AE3162}"/>
          </ac:spMkLst>
        </pc:spChg>
        <pc:spChg chg="mod">
          <ac:chgData name="abihrtam123@outlook.com" userId="8bfba6f25caaa63e" providerId="LiveId" clId="{AF88C727-7CBD-4589-9C29-2022FAF29683}" dt="2026-09-03T08:16:22.621" v="413" actId="12"/>
          <ac:spMkLst>
            <pc:docMk/>
            <pc:sldMk cId="4023614717" sldId="272"/>
            <ac:spMk id="8" creationId="{A0853C47-EF99-9871-1B3A-8D99989A907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A8683-369A-A6C6-D209-C3D77B0D3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4ACEA4-D2FD-9FD7-A8F8-C5F186246B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006DF-16D5-BA26-397A-8A69AA59F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05-9498-4835-9800-B3E00B93576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530F4-B0BB-CB5E-B39B-BB562AF1B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C6EF7-3553-CA5A-E70A-B40E9EDC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5B0A-2F13-490A-993D-2AD580C96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587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7D0A-50C5-C6F4-80DE-7F63F0415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17699-9FD6-EAB0-ACC5-AF49E247A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CAD0B-6D48-8501-74D6-5EBE837D9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05-9498-4835-9800-B3E00B93576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7B0C7-D2B5-DFFF-1DB0-D5199A59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2C15C-AB55-4230-39CB-E145BD46C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5B0A-2F13-490A-993D-2AD580C96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640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1B8BA-DDEB-6D3D-16E2-8CFABD47E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2E6F1-7F65-C1C9-AD51-A9003A0E0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B69FE-8D30-6EBA-4389-38CF5BA68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05-9498-4835-9800-B3E00B93576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46D43-3121-A52F-AA19-53F9048B9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2FE04-16E1-2D0B-1858-1370082E4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5B0A-2F13-490A-993D-2AD580C96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127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43A07-C149-8D59-FB37-55C8520D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847C2-F264-A1BD-033D-9F3A0EDB4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B0285-D780-9C33-C063-9492CAD84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6B250-90AE-A5A3-3DBE-2181DBA56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05-9498-4835-9800-B3E00B93576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17A6D-876A-ED1C-A830-65FD9A18E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DF20D-EE76-62C8-38A1-C337854CA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5B0A-2F13-490A-993D-2AD580C96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769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D130F-3328-779D-8527-620978ED1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D5140-0BEE-A344-CFE9-E55E2F62F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CA819-AB28-D14F-513E-6BD74EF06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B5B34A-66C2-07E4-B4C9-3307F63AFC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123154-B6F6-C040-35F7-DFF5D1129E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34C860-C50E-2532-BB5A-81171E0EF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05-9498-4835-9800-B3E00B93576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158A9B-8273-36FE-4A35-98EB6019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410837-E227-2BEF-2FB2-8838C3CDA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5B0A-2F13-490A-993D-2AD580C96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52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43525-2A2D-4CCA-A7B9-40911AC94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EA06F8-AD49-80CF-922A-7C5904599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05-9498-4835-9800-B3E00B93576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937C45-D11D-0545-3630-163C00040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AD54AE-4E05-E957-AEB4-3D4634DE3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5B0A-2F13-490A-993D-2AD580C96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463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D385-2E14-5B25-81C1-6D3A7AA03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05-9498-4835-9800-B3E00B93576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F8B076-BBEB-BD05-2938-F1A7AAEE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9F178-CE65-8768-94A8-83269C73E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5B0A-2F13-490A-993D-2AD580C96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16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E381B-062E-BB44-1EC3-42F7D8BFF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61872-F555-1BF9-7F33-4D7002EA6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1A918-A999-5530-CDBB-378D01EF5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FADD7-E6DF-1F54-DF51-53E8CA659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05-9498-4835-9800-B3E00B93576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3D5A3-CD06-1EFC-0F02-EA4A32325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7C9C1-2A06-6C9D-1DA9-DC2CA866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5B0A-2F13-490A-993D-2AD580C96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86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EEB2E-36E0-5C22-C497-12DCF0B22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9AC23B-EE56-4B83-E429-BF0297AC1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0F8C3-D6F7-1279-DCEF-FE82BE1AE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7E5F9-E83D-4B70-0CE0-0647D820B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05-9498-4835-9800-B3E00B93576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E9E95-17AA-2AE1-1DE4-EBB62BB2A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1FB562-F499-955F-95ED-582711E9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5B0A-2F13-490A-993D-2AD580C96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10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96A09-8BC7-D513-FF00-FF9615567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3A862-46B8-14B4-760B-203F3D2BA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94880-29F7-DFF5-8216-2C35AEE2D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05-9498-4835-9800-B3E00B93576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103FD-190D-27A6-15AF-445A0BA6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BD63C-F51B-6B49-4F77-B865B77FE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5B0A-2F13-490A-993D-2AD580C96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887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A24350-2EA3-F535-CBA7-33EB5699D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F1D02A-F0A9-51BC-5C73-E5C1FA783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2E0DC-FFCB-C3DF-0BB8-8F4AD3D1E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05-9498-4835-9800-B3E00B93576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BB4DF-641B-3F6F-6084-497A1D387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AC391-464E-811D-980E-40DE26642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5B0A-2F13-490A-993D-2AD580C96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91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FA8657-59F1-22E5-2873-BA5EFDED7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BFF6D-6513-7708-A89E-3142CB392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225F9-9EE3-6E86-0C5B-8A9530311B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82C05-9498-4835-9800-B3E00B93576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28AA1-B475-ADF8-7E88-D7E817475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85D0F-B8FE-6317-FD45-DB94BB26A4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25B0A-2F13-490A-993D-2AD580C96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694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B33056-A43B-5048-2D0B-66C29A6B43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999" y="4110039"/>
            <a:ext cx="5262880" cy="165576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l"/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Abinesh H (192424387)</a:t>
            </a:r>
          </a:p>
          <a:p>
            <a:pPr algn="l"/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Mithlesh N (192424364)</a:t>
            </a:r>
          </a:p>
          <a:p>
            <a:pPr algn="l"/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Devin Pakianath (192325003)</a:t>
            </a:r>
          </a:p>
        </p:txBody>
      </p:sp>
      <p:pic>
        <p:nvPicPr>
          <p:cNvPr id="4" name="Image 1">
            <a:extLst>
              <a:ext uri="{FF2B5EF4-FFF2-40B4-BE49-F238E27FC236}">
                <a16:creationId xmlns:a16="http://schemas.microsoft.com/office/drawing/2014/main" id="{343C5CA2-961A-C78F-A257-2C4823F5FAD7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999" y="203200"/>
            <a:ext cx="9513870" cy="1231471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139E1C6-F0C8-7297-F3AF-265ADA76DAA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513869" y="1780348"/>
            <a:ext cx="9144000" cy="108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Language-Based Insider Threat Detection from Enterprise Communications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D83E37-12E2-CA89-EB34-BDC0B5B78992}"/>
              </a:ext>
            </a:extLst>
          </p:cNvPr>
          <p:cNvSpPr txBox="1"/>
          <p:nvPr/>
        </p:nvSpPr>
        <p:spPr>
          <a:xfrm>
            <a:off x="6603999" y="4110039"/>
            <a:ext cx="4856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	Dr. Kumaragurubaran 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B5BD44-3120-0E90-9308-AAB668454904}"/>
              </a:ext>
            </a:extLst>
          </p:cNvPr>
          <p:cNvSpPr txBox="1"/>
          <p:nvPr/>
        </p:nvSpPr>
        <p:spPr>
          <a:xfrm>
            <a:off x="1404348" y="3118031"/>
            <a:ext cx="8993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DSA0306 – Natural Language Processing</a:t>
            </a:r>
            <a:endParaRPr lang="en-IN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305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E47F1-038B-58AB-286C-3BBAECFA6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6343A-5E51-344E-3B49-0F6CBD282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Enterprise organizations generate large volumes of emails, messages, and internal communications. </a:t>
            </a:r>
          </a:p>
          <a:p>
            <a:pPr lvl="0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Insider threats can involve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data leakage, unauthorized access, policy violations, or malicious activities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manual monitoring is time-consuming and difficult to scale. </a:t>
            </a:r>
          </a:p>
          <a:p>
            <a:pPr lvl="0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 can analyze the language used in communications. </a:t>
            </a:r>
          </a:p>
          <a:p>
            <a:pPr lvl="0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 classify messages and identify potentially suspicious behavior. </a:t>
            </a:r>
          </a:p>
          <a:p>
            <a:pPr lvl="0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threat scores, risk levels, threat categories, and suspicious indicators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security analysts.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5DF8BF-EA19-81F1-38F5-3103644C0BB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053" y="97845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5C5009-23CC-A585-622E-ED3FF8639F2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550" y="97845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2749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422EA-6428-72D1-210E-A8EBD5923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DFD70-65FB-C26D-FF49-5802F7AED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PROBLEM STATEMENT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05BB33-024B-8932-5544-48B8BB45401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053" y="97845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A29348-9CD3-5AE7-7F78-26F08CA1C8D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550" y="9784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76E9652-8036-DB9E-4981-65B01E1DD9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127" y="1957968"/>
            <a:ext cx="11125746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communication data is increasing rapidly. </a:t>
            </a:r>
          </a:p>
          <a:p>
            <a:pPr lvl="0"/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of emails and messages is </a:t>
            </a:r>
            <a:r>
              <a:rPr lang="en-IN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inefficient</a:t>
            </a:r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Insider threats can be hidden within normal-looking communications. </a:t>
            </a:r>
          </a:p>
          <a:p>
            <a:pPr lvl="0"/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Detecting </a:t>
            </a:r>
            <a:r>
              <a:rPr lang="en-IN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leakage, unauthorized access, and malicious intent</a:t>
            </a:r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 at an early stage is difficult. </a:t>
            </a:r>
          </a:p>
          <a:p>
            <a:pPr lvl="0"/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Security teams need to prioritize large numbers of communications based on risk. </a:t>
            </a:r>
          </a:p>
          <a:p>
            <a:pPr lvl="0"/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may not provide </a:t>
            </a:r>
            <a:r>
              <a:rPr lang="en-IN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fast and explainable threat assessment</a:t>
            </a:r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an automated </a:t>
            </a:r>
            <a:r>
              <a:rPr lang="en-IN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NLP and Machine Learning-based system</a:t>
            </a:r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 is needed to detect and prioritize potential insider threats.</a:t>
            </a:r>
          </a:p>
        </p:txBody>
      </p:sp>
    </p:spTree>
    <p:extLst>
      <p:ext uri="{BB962C8B-B14F-4D97-AF65-F5344CB8AC3E}">
        <p14:creationId xmlns:p14="http://schemas.microsoft.com/office/powerpoint/2010/main" val="2478308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67EF1-A5FB-3853-319C-95111068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C84FC-173E-E2FA-F911-D0257A63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C40AD-E704-163E-CBAC-743D57CCF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774" y="1957968"/>
            <a:ext cx="10926452" cy="4351338"/>
          </a:xfrm>
        </p:spPr>
        <p:txBody>
          <a:bodyPr>
            <a:noAutofit/>
          </a:bodyPr>
          <a:lstStyle/>
          <a:p>
            <a:pPr lvl="0"/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NLP-based system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for detecting insider threats in enterprise communications. </a:t>
            </a:r>
          </a:p>
          <a:p>
            <a:pPr lvl="0"/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preprocess and analyze communication text using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classify communications into different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threat categories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using Machine Learning. </a:t>
            </a:r>
          </a:p>
          <a:p>
            <a:pPr lvl="0"/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a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0–100 threat score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for each communication. </a:t>
            </a:r>
          </a:p>
          <a:p>
            <a:pPr lvl="0"/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assign risk levels such as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LOW, MEDIUM, HIGH, and CRITICAL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suspicious indicators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such as data transfer, confidential information, credentials, and concealment. </a:t>
            </a:r>
          </a:p>
          <a:p>
            <a:pPr lvl="0"/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alerts and analytics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for high-risk communications. </a:t>
            </a:r>
          </a:p>
          <a:p>
            <a:pPr lvl="0"/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user-friendly dashboard for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security monitoring and investigation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52CFE3-6E72-2218-A6A4-9DFF6D7A89E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053" y="97845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49CD69-D721-05B8-FEA3-DC824E239C1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550" y="97845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1735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5CE5A-F87A-9D1F-B49C-116B91EF6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C87C4-5C81-B5DA-2625-80B89F7F6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Times New Roman" pitchFamily="18" charset="0"/>
                <a:cs typeface="Times New Roman" pitchFamily="18" charset="0"/>
              </a:rPr>
              <a:t>System Architecture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48470D-CA67-40C2-569A-8A2CE61A37A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053" y="97845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4AB9B4-B79B-9559-1972-A7F70CC56BF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550" y="97845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5F105A-8B08-404F-F677-E7EBD8656D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" t="7640" r="392" b="2169"/>
          <a:stretch>
            <a:fillRect/>
          </a:stretch>
        </p:blipFill>
        <p:spPr bwMode="auto">
          <a:xfrm>
            <a:off x="979995" y="1440729"/>
            <a:ext cx="10232010" cy="5319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6578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A2617-BBA3-FD8C-EC26-E5395E319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991D-77D0-9ABA-5676-D2E36D2C2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2154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Module 1: Enterprise Communication Processing &amp; Feature Extraction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3D6055-A4A8-9806-FB94-A29FF5EFF12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053" y="97845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844FB4-BBC0-9490-7242-91FF325A4A5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550" y="97845"/>
            <a:ext cx="1520114" cy="134288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2">
                <a:extLst>
                  <a:ext uri="{FF2B5EF4-FFF2-40B4-BE49-F238E27FC236}">
                    <a16:creationId xmlns:a16="http://schemas.microsoft.com/office/drawing/2014/main" id="{59FFFBB4-C863-89AA-ECE7-188F764A8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139" y="1810590"/>
                <a:ext cx="10967719" cy="44319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I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Purpose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Collect and process enterprise communications from </a:t>
                </a:r>
                <a:r>
                  <a:rPr lang="en-I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CSV/TXT files</a:t>
                </a:r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Clean and preprocess text messages for NLP analysis.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Extract meaningful </a:t>
                </a:r>
                <a:r>
                  <a:rPr lang="en-I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textual features</a:t>
                </a:r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threat classific9999999999999ation. </a:t>
                </a:r>
              </a:p>
              <a:p>
                <a:endParaRPr lang="en-IN" sz="24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AutoNum type="arabicPeriod"/>
                </a:pPr>
                <a:r>
                  <a:rPr lang="en-I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Collection</a:t>
                </a:r>
              </a:p>
              <a:p>
                <a:r>
                  <a:rPr lang="en-I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2.Text Preprocessing</a:t>
                </a:r>
                <a:endParaRPr lang="en-IN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Convert text into a consistent format.</a:t>
                </a:r>
              </a:p>
              <a:p>
                <a:r>
                  <a:rPr lang="en-I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</a:t>
                </a:r>
                <a:r>
                  <a:rPr lang="en-IN" sz="2400" b="1"/>
                  <a:t> </a:t>
                </a:r>
                <a:r>
                  <a:rPr lang="en-I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Tokenization</a:t>
                </a:r>
                <a:endParaRPr lang="en-IN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communication is divided into individual tokens: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represents an individual word/token.</a:t>
                </a:r>
              </a:p>
            </p:txBody>
          </p:sp>
        </mc:Choice>
        <mc:Fallback xmlns="">
          <p:sp>
            <p:nvSpPr>
              <p:cNvPr id="8" name="Rectangle 2">
                <a:extLst>
                  <a:ext uri="{FF2B5EF4-FFF2-40B4-BE49-F238E27FC236}">
                    <a16:creationId xmlns:a16="http://schemas.microsoft.com/office/drawing/2014/main" id="{59FFFBB4-C863-89AA-ECE7-188F764A86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2139" y="1810590"/>
                <a:ext cx="10967719" cy="4431983"/>
              </a:xfrm>
              <a:prstGeom prst="rect">
                <a:avLst/>
              </a:prstGeom>
              <a:blipFill>
                <a:blip r:embed="rId4"/>
                <a:stretch>
                  <a:fillRect l="-833" t="-550" b="-275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7EC146C-A91A-EC3C-7A19-449E795F97AD}"/>
              </a:ext>
            </a:extLst>
          </p:cNvPr>
          <p:cNvSpPr txBox="1"/>
          <p:nvPr/>
        </p:nvSpPr>
        <p:spPr>
          <a:xfrm>
            <a:off x="7616858" y="5081046"/>
            <a:ext cx="38783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"I will transfer the confidential files"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T={I,will,transfer,confidential,files}</a:t>
            </a:r>
          </a:p>
        </p:txBody>
      </p:sp>
    </p:spTree>
    <p:extLst>
      <p:ext uri="{BB962C8B-B14F-4D97-AF65-F5344CB8AC3E}">
        <p14:creationId xmlns:p14="http://schemas.microsoft.com/office/powerpoint/2010/main" val="1828587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3E0B0-88DA-2B27-7BD6-CAA56C8AE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5D837-BAF2-1A92-3BD0-9AC071753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2154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Module 1: Enterprise Communication Processing &amp; Feature Extraction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4A17AE-E956-BE80-6D6B-DA9E3065678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053" y="97845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151DF9-28B1-D97A-4ED4-D5B1B234DE4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550" y="97845"/>
            <a:ext cx="1520114" cy="134288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2">
                <a:extLst>
                  <a:ext uri="{FF2B5EF4-FFF2-40B4-BE49-F238E27FC236}">
                    <a16:creationId xmlns:a16="http://schemas.microsoft.com/office/drawing/2014/main" id="{843C16E3-4912-D379-F3CC-F4B1EC234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139" y="1747103"/>
                <a:ext cx="10967719" cy="48313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I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Feature Extraction</a:t>
                </a:r>
                <a:endParaRPr lang="en-I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processed text is transformed into numerical features that can be provided to the ML model.</a:t>
                </a:r>
              </a:p>
              <a:p>
                <a:r>
                  <a:rPr lang="en-I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TF-IDF is used by the model pipeline: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sz="1600" i="1">
                          <a:latin typeface="Cambria Math" panose="02040503050406030204" pitchFamily="18" charset="0"/>
                        </a:rPr>
                        <m:t>𝑇𝐹𝐼𝐷𝐹</m:t>
                      </m:r>
                      <m:d>
                        <m:dPr>
                          <m:sepChr m:val=","/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IN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𝑇𝐹</m:t>
                      </m:r>
                      <m:d>
                        <m:dPr>
                          <m:sepChr m:val=","/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IN" sz="16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𝐼𝐷𝐹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sz="1600" i="1">
                          <a:latin typeface="Cambria Math" panose="02040503050406030204" pitchFamily="18" charset="0"/>
                        </a:rPr>
                        <m:t>𝐼𝐷𝐹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16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16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lang="en-IN" sz="160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𝐷𝐹</m:t>
                                  </m:r>
                                  <m:d>
                                    <m:dPr>
                                      <m:ctrlP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I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total number of documents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𝐷𝐹</m:t>
                    </m:r>
                    <m:d>
                      <m:d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I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number of documents containing term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I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𝑇𝐹</m:t>
                    </m:r>
                    <m:d>
                      <m:dPr>
                        <m:sepChr m:val=","/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I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frequency of term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I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document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I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Feature Representation</a:t>
                </a:r>
                <a:endParaRPr lang="en-I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sz="16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sz="16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en-IN" sz="160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I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represents the numerical feature vector extracted from a communication.</a:t>
                </a:r>
              </a:p>
              <a:p>
                <a:r>
                  <a:rPr lang="en-I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Module Flow</a:t>
                </a:r>
              </a:p>
              <a:p>
                <a:r>
                  <a:rPr lang="en-I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Raw Communication → Text Cleaning → Tokenization → Feature Extraction → Numerical Feature Vector → ML Model</a:t>
                </a:r>
                <a:endParaRPr lang="en-I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2">
                <a:extLst>
                  <a:ext uri="{FF2B5EF4-FFF2-40B4-BE49-F238E27FC236}">
                    <a16:creationId xmlns:a16="http://schemas.microsoft.com/office/drawing/2014/main" id="{843C16E3-4912-D379-F3CC-F4B1EC234E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2139" y="1747103"/>
                <a:ext cx="10967719" cy="4831323"/>
              </a:xfrm>
              <a:prstGeom prst="rect">
                <a:avLst/>
              </a:prstGeom>
              <a:blipFill>
                <a:blip r:embed="rId4"/>
                <a:stretch>
                  <a:fillRect l="-556" t="-253" b="-176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4085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EA54A-BC17-9A7E-4C94-A2A025EC7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96A87-7A39-37B5-B23C-529EE2ABA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1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2: Insider Threat Detection &amp; Risk Assessment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B6D845-CE69-F88C-BD3D-C150E4C00FA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053" y="97845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465990-9491-279E-2BDC-BB158F72219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550" y="9784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35D42C2E-DAFA-16A2-D299-DBE6F9573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140" y="1815357"/>
            <a:ext cx="1096771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Classify communications into different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insider-threat categories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Calculate a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threat score and confidence score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for each communication.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Identify suspicious indicators and assign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LOW, MEDIUM, HIGH, or CRITICAL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risk levels. </a:t>
            </a:r>
          </a:p>
          <a:p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1. Machine Learning Classification</a:t>
            </a: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communication is passed to the trained ML model.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model predicts one of the following categories: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Policy Violation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predicted class is: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		C=argcmax​P(c∣X)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AABDCD0-442C-97E3-D8DF-FB41DDF37F51}"/>
                  </a:ext>
                </a:extLst>
              </p:cNvPr>
              <p:cNvSpPr txBox="1"/>
              <p:nvPr/>
            </p:nvSpPr>
            <p:spPr>
              <a:xfrm>
                <a:off x="5533534" y="4925530"/>
                <a:ext cx="4340993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processed communication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probability of class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IN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predicted threat category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AABDCD0-442C-97E3-D8DF-FB41DDF37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534" y="4925530"/>
                <a:ext cx="4340993" cy="1569660"/>
              </a:xfrm>
              <a:prstGeom prst="rect">
                <a:avLst/>
              </a:prstGeom>
              <a:blipFill>
                <a:blip r:embed="rId4"/>
                <a:stretch>
                  <a:fillRect l="-2247" t="-3113" b="-81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5062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9A3B4-FB3D-8A6F-6C5C-89B0C8DDA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D23A6-5F39-059F-B3C5-1B065CAA1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1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2: Insider Threat Detection &amp; Risk Assessment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F7E399-3DC3-7715-96D6-F08CACF46FC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053" y="97845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2F8328-BF6E-D460-8D5B-C3128C0F311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550" y="97845"/>
            <a:ext cx="1520114" cy="134288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2">
                <a:extLst>
                  <a:ext uri="{FF2B5EF4-FFF2-40B4-BE49-F238E27FC236}">
                    <a16:creationId xmlns:a16="http://schemas.microsoft.com/office/drawing/2014/main" id="{800515FA-AC29-1EE3-934E-92EFAC1FF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140" y="1889866"/>
                <a:ext cx="10967719" cy="4375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I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Confidence Calculation</a:t>
                </a:r>
                <a:endParaRPr lang="en-IN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model uses class probabilities through </a:t>
                </a: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predict_proba()</a:t>
                </a:r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𝐶𝑜𝑛𝑓𝑖𝑑𝑒𝑛𝑐𝑒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lang="en-IN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example: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𝑀𝑎𝑙𝑖𝑐𝑖𝑜𝑢𝑠𝐼𝑛𝑡𝑒𝑛𝑡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=0.86</m:t>
                      </m:r>
                    </m:oMath>
                  </m:oMathPara>
                </a14:m>
                <a:endParaRPr lang="en-IN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Therefore:</a:t>
                </a:r>
              </a:p>
              <a:p>
                <a:pPr algn="ctr"/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Confidence=0.86×100=86%</a:t>
                </a:r>
              </a:p>
              <a:p>
                <a:r>
                  <a:rPr lang="en-I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Threat Score Calculation</a:t>
                </a:r>
                <a:endParaRPr lang="en-IN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probability is converted into a percentage:</a:t>
                </a:r>
              </a:p>
              <a:p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Score=P(C∣X)×100</a:t>
                </a:r>
              </a:p>
              <a:p>
                <a:r>
                  <a:rPr lang="en-I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Module Flow</a:t>
                </a:r>
              </a:p>
              <a:p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 Vector→ML Classification→Probability→Threat Score→Risk Level</a:t>
                </a:r>
              </a:p>
            </p:txBody>
          </p:sp>
        </mc:Choice>
        <mc:Fallback xmlns="">
          <p:sp>
            <p:nvSpPr>
              <p:cNvPr id="8" name="Rectangle 2">
                <a:extLst>
                  <a:ext uri="{FF2B5EF4-FFF2-40B4-BE49-F238E27FC236}">
                    <a16:creationId xmlns:a16="http://schemas.microsoft.com/office/drawing/2014/main" id="{800515FA-AC29-1EE3-934E-92EFAC1FFD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2140" y="1889866"/>
                <a:ext cx="10967719" cy="4375300"/>
              </a:xfrm>
              <a:prstGeom prst="rect">
                <a:avLst/>
              </a:prstGeom>
              <a:blipFill>
                <a:blip r:embed="rId4"/>
                <a:stretch>
                  <a:fillRect l="-833" t="-696" b="-264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2332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4345F-19BB-349E-F6AF-6F327AC91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C2B8D-795D-3FE8-1787-71E2E6DD2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1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3: Security Monitoring Dashboard, Alert Management &amp; Threat Investigation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0A946C-BFA1-F86C-376E-28527C8FF71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053" y="97845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05C9E7-8225-EF56-64EE-2ED54B65B06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550" y="9784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A0853C47-EF99-9871-1B3A-8D99989A9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140" y="2000022"/>
            <a:ext cx="1096771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centralized platform for monitoring, analyzing, and managing detected insider threats.</a:t>
            </a:r>
          </a:p>
          <a:p>
            <a:r>
              <a:rPr lang="en-I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IN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Security Dashboard</a:t>
            </a: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 – Displays overall communication and threat statistics.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Risk-Level Monitoring</a:t>
            </a: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 – Classifies threats as LOW, MEDIUM, HIGH, and CRITICAL.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Automated Alert Generation</a:t>
            </a: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 – Creates alerts for suspicious and high-risk communications.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Threat Score Display</a:t>
            </a: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 – Shows the calculated risk score for each communication.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Threat Category Identification</a:t>
            </a: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 – Displays categories such as security risk, data exfiltration, and malicious intent.</a:t>
            </a:r>
          </a:p>
          <a:p>
            <a:r>
              <a:rPr lang="en-I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  <a:b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React.js | FastAPI | MySQL | SQLAlchemy | JavaScript | HTML/CSS</a:t>
            </a:r>
          </a:p>
        </p:txBody>
      </p:sp>
    </p:spTree>
    <p:extLst>
      <p:ext uri="{BB962C8B-B14F-4D97-AF65-F5344CB8AC3E}">
        <p14:creationId xmlns:p14="http://schemas.microsoft.com/office/powerpoint/2010/main" val="4023614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1790E-5CCE-9BA4-B0A3-550DFF091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D62D7-3746-E2CA-4618-202523030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B917D0-3360-574C-9BB6-DC68649D2C7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053" y="97845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2DD1F9-0720-4C3D-2677-751F08E6EE2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550" y="97845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D7A9F6-52D1-7B7E-22B6-44C5B03477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779" y="1539859"/>
            <a:ext cx="9076442" cy="51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990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4190D-959D-6A05-7E0D-94DA7BBE5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30916-B917-7BAC-2F8D-51B4FA93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646"/>
            <a:ext cx="10515600" cy="1325563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C75634-072C-506E-B1C2-E953DCE9C39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5071" y="97845"/>
            <a:ext cx="1148260" cy="1119068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F7ED91-79F0-6E23-F9B6-96F41B59E46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4422" y="97845"/>
            <a:ext cx="1221242" cy="1119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2D7DC7-3F84-1988-B975-67AF3D8113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276393"/>
            <a:ext cx="5038765" cy="27066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4C557F-70F7-3321-790B-7AAFFDBB8B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4040053"/>
            <a:ext cx="5038765" cy="27175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B4ADB-4904-3B1B-1E3A-90ABC1A670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276393"/>
            <a:ext cx="5038764" cy="27041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FA8D64F-5960-B91E-9DC4-2AD9AD495A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4040053"/>
            <a:ext cx="5038764" cy="271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253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1B49D-D2FF-A404-76A8-B569DB615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68D6D-05AF-2791-F412-87B253B7D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CFDB34-0A10-D517-F6BE-C5825B84D5E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053" y="97845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90F58B-0900-6207-2526-F11AB30B167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550" y="9784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91F9B578-7301-7796-C0BD-15259C12E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140" y="1708009"/>
            <a:ext cx="1096771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NLP-based insider threat detection system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for analyzing enterprise communications.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communication data and classifies messages into different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threat categories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threat scores, confidence levels, risk levels, and suspicious indicators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real-time email, chat, and enterprise communication monitoring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Improve detection accuracy using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larger and more diverse real-world datasets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advanced NLP models such as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BERT, RoBERTa, or transformer-based models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system on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cloud infrastructure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for scalable enterprise usage</a:t>
            </a:r>
            <a:r>
              <a:rPr lang="en-IN" sz="2400"/>
              <a:t>.</a:t>
            </a: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207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1E9CF-D23F-59A4-0B3A-BEA4C8B4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3315"/>
            <a:ext cx="10515600" cy="557364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11500">
              <a:latin typeface="Agency FB" panose="020B050302020202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0">
                <a:latin typeface="Agency FB" panose="020B0503020202020204" pitchFamily="34" charset="0"/>
                <a:cs typeface="Times New Roman" panose="02020603050405020304" pitchFamily="18" charset="0"/>
              </a:rPr>
              <a:t>THANK YOU!</a:t>
            </a:r>
            <a:endParaRPr lang="en-IN" sz="11500">
              <a:latin typeface="Agency FB" panose="020B0503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799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935</Words>
  <Application>Microsoft Office PowerPoint</Application>
  <PresentationFormat>Widescreen</PresentationFormat>
  <Paragraphs>117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Agency FB</vt:lpstr>
      <vt:lpstr>Arial</vt:lpstr>
      <vt:lpstr>Calibri</vt:lpstr>
      <vt:lpstr>Calibri Light</vt:lpstr>
      <vt:lpstr>Cambria Math</vt:lpstr>
      <vt:lpstr>Times New Roman</vt:lpstr>
      <vt:lpstr>Office Theme</vt:lpstr>
      <vt:lpstr>Natural Language-Based Insider Threat Detection from Enterprise Communications</vt:lpstr>
      <vt:lpstr>INTRODUCTION</vt:lpstr>
      <vt:lpstr>PROBLEM STATEMENT</vt:lpstr>
      <vt:lpstr>OBJECTIVES</vt:lpstr>
      <vt:lpstr>System Architecture</vt:lpstr>
      <vt:lpstr> Module 1: Enterprise Communication Processing &amp; Feature Extraction</vt:lpstr>
      <vt:lpstr> Module 1: Enterprise Communication Processing &amp; Feature Extraction</vt:lpstr>
      <vt:lpstr>Module 2: Insider Threat Detection &amp; Risk Assessment</vt:lpstr>
      <vt:lpstr>Module 2: Insider Threat Detection &amp; Risk Assessment</vt:lpstr>
      <vt:lpstr>Module 3: Security Monitoring Dashboard, Alert Management &amp; Threat Investigation</vt:lpstr>
      <vt:lpstr>IMPLEMENTATION</vt:lpstr>
      <vt:lpstr>IMPLEMENTATION</vt:lpstr>
      <vt:lpstr>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abihrtam123@outlook.com</dc:creator>
  <cp:lastModifiedBy>abihrtam123@outlook.com</cp:lastModifiedBy>
  <cp:revision>2</cp:revision>
  <dcterms:created xsi:type="dcterms:W3CDTF">2026-08-27T03:34:39Z</dcterms:created>
  <dcterms:modified xsi:type="dcterms:W3CDTF">2026-09-03T08:16:31Z</dcterms:modified>
</cp:coreProperties>
</file>